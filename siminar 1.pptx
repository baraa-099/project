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4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68" r:id="rId4"/>
    <p:sldId id="259" r:id="rId5"/>
    <p:sldId id="278" r:id="rId6"/>
    <p:sldId id="261" r:id="rId7"/>
    <p:sldId id="262" r:id="rId8"/>
    <p:sldId id="263" r:id="rId9"/>
    <p:sldId id="267" r:id="rId10"/>
    <p:sldId id="264" r:id="rId11"/>
    <p:sldId id="266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9FE"/>
    <a:srgbClr val="5D6A89"/>
    <a:srgbClr val="9D7BF0"/>
    <a:srgbClr val="FFA347"/>
    <a:srgbClr val="B7472A"/>
    <a:srgbClr val="7CA0C1"/>
    <a:srgbClr val="A6C2D8"/>
    <a:srgbClr val="B6C9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نمط متوسط 4 - تميي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بلا نمط، شبكة جدول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742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22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29C0B1AC-D800-4E54-BD2F-050E18ABF55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6A10D7C4-B3A1-4AAF-A9CA-41FF4A407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4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005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03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04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7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4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3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6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3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2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4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7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4B971D4-7E30-4A7E-B8F2-B2E53CF21A7A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BAC20A5-84FF-4D93-A96A-9117DE104A7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12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F259F6BA-9848-F8BD-99D3-B74A52F07C8D}"/>
              </a:ext>
            </a:extLst>
          </p:cNvPr>
          <p:cNvSpPr txBox="1"/>
          <p:nvPr/>
        </p:nvSpPr>
        <p:spPr>
          <a:xfrm>
            <a:off x="3141694" y="1310885"/>
            <a:ext cx="5908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Real Estate Marketing Website</a:t>
            </a:r>
            <a:r>
              <a:rPr lang="ar-SA" sz="2800" b="1" dirty="0"/>
              <a:t> </a:t>
            </a:r>
            <a:r>
              <a:rPr lang="en-US" sz="2800" b="1" dirty="0"/>
              <a:t>with AI</a:t>
            </a:r>
            <a:endParaRPr lang="en-US" sz="4800" b="1" dirty="0"/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5E2897EE-E616-322A-764B-7B5C3F27DCE3}"/>
              </a:ext>
            </a:extLst>
          </p:cNvPr>
          <p:cNvSpPr txBox="1"/>
          <p:nvPr/>
        </p:nvSpPr>
        <p:spPr>
          <a:xfrm>
            <a:off x="4635758" y="3429000"/>
            <a:ext cx="29204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Student Names:</a:t>
            </a:r>
            <a:br>
              <a:rPr lang="en-US" dirty="0"/>
            </a:br>
            <a:r>
              <a:rPr lang="en-US" dirty="0"/>
              <a:t>Fahad Abdulrahman Naji</a:t>
            </a:r>
            <a:br>
              <a:rPr lang="en-US" dirty="0"/>
            </a:br>
            <a:r>
              <a:rPr lang="en-US" dirty="0"/>
              <a:t>Baraa Mujahid</a:t>
            </a:r>
          </a:p>
          <a:p>
            <a:pPr algn="ctr"/>
            <a:endParaRPr lang="en-US" dirty="0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3CF337AD-0CDC-2119-BEFE-9807F848BBC4}"/>
              </a:ext>
            </a:extLst>
          </p:cNvPr>
          <p:cNvSpPr txBox="1"/>
          <p:nvPr/>
        </p:nvSpPr>
        <p:spPr>
          <a:xfrm>
            <a:off x="4635758" y="2213283"/>
            <a:ext cx="29204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Supervisor:</a:t>
            </a:r>
            <a:br>
              <a:rPr lang="en-US" sz="2000" dirty="0"/>
            </a:br>
            <a:r>
              <a:rPr lang="en-US" sz="2000" dirty="0"/>
              <a:t>Dr. Rania Rajab</a:t>
            </a: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BB611496-4B48-0EA6-E867-5C59EDB1D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3" t="15504" r="7044" b="17149"/>
          <a:stretch>
            <a:fillRect/>
          </a:stretch>
        </p:blipFill>
        <p:spPr>
          <a:xfrm>
            <a:off x="0" y="61289"/>
            <a:ext cx="1847463" cy="14369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2022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32E0A0BD-54D6-FABF-826D-3F70C24C8D3E}"/>
              </a:ext>
            </a:extLst>
          </p:cNvPr>
          <p:cNvSpPr txBox="1"/>
          <p:nvPr/>
        </p:nvSpPr>
        <p:spPr>
          <a:xfrm>
            <a:off x="228951" y="391631"/>
            <a:ext cx="262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 importance</a:t>
            </a:r>
          </a:p>
        </p:txBody>
      </p:sp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ADFDB094-1634-5DFD-DD6E-1980161BEB78}"/>
              </a:ext>
            </a:extLst>
          </p:cNvPr>
          <p:cNvGrpSpPr/>
          <p:nvPr/>
        </p:nvGrpSpPr>
        <p:grpSpPr>
          <a:xfrm>
            <a:off x="330333" y="1282342"/>
            <a:ext cx="10446524" cy="3233463"/>
            <a:chOff x="5181273" y="3886602"/>
            <a:chExt cx="6146090" cy="1618528"/>
          </a:xfrm>
        </p:grpSpPr>
        <p:sp>
          <p:nvSpPr>
            <p:cNvPr id="11" name="مربع نص 10">
              <a:extLst>
                <a:ext uri="{FF2B5EF4-FFF2-40B4-BE49-F238E27FC236}">
                  <a16:creationId xmlns:a16="http://schemas.microsoft.com/office/drawing/2014/main" id="{BA233CFA-CD6C-9238-5CC4-16F0573EFDDA}"/>
                </a:ext>
              </a:extLst>
            </p:cNvPr>
            <p:cNvSpPr txBox="1"/>
            <p:nvPr/>
          </p:nvSpPr>
          <p:spPr>
            <a:xfrm>
              <a:off x="5229809" y="3886602"/>
              <a:ext cx="6097554" cy="2619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1"/>
              <a:r>
                <a:rPr lang="en-US" sz="2800" dirty="0"/>
                <a:t>1. Developing a real estate management data site.</a:t>
              </a:r>
              <a:endParaRPr lang="ar-SA" sz="2800" dirty="0"/>
            </a:p>
          </p:txBody>
        </p:sp>
        <p:sp>
          <p:nvSpPr>
            <p:cNvPr id="13" name="مربع نص 12">
              <a:extLst>
                <a:ext uri="{FF2B5EF4-FFF2-40B4-BE49-F238E27FC236}">
                  <a16:creationId xmlns:a16="http://schemas.microsoft.com/office/drawing/2014/main" id="{BB85BB6B-DD42-45B6-C9B2-2C8BEFA007AA}"/>
                </a:ext>
              </a:extLst>
            </p:cNvPr>
            <p:cNvSpPr txBox="1"/>
            <p:nvPr/>
          </p:nvSpPr>
          <p:spPr>
            <a:xfrm>
              <a:off x="5181273" y="4426262"/>
              <a:ext cx="6097554" cy="292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1"/>
              <a:r>
                <a:rPr lang="en-US" sz="3200" dirty="0"/>
                <a:t>2. Improved user experience with a </a:t>
              </a:r>
              <a:r>
                <a:rPr lang="en-US" sz="2800" dirty="0"/>
                <a:t>user-friendly</a:t>
              </a:r>
              <a:r>
                <a:rPr lang="en-US" sz="3200" dirty="0"/>
                <a:t> interface</a:t>
              </a:r>
              <a:endParaRPr lang="ar-SA" sz="3200" dirty="0"/>
            </a:p>
          </p:txBody>
        </p:sp>
        <p:sp>
          <p:nvSpPr>
            <p:cNvPr id="14" name="مربع نص 13">
              <a:extLst>
                <a:ext uri="{FF2B5EF4-FFF2-40B4-BE49-F238E27FC236}">
                  <a16:creationId xmlns:a16="http://schemas.microsoft.com/office/drawing/2014/main" id="{715C3E4E-5004-F7A3-F1D6-B30784705832}"/>
                </a:ext>
              </a:extLst>
            </p:cNvPr>
            <p:cNvSpPr txBox="1"/>
            <p:nvPr/>
          </p:nvSpPr>
          <p:spPr>
            <a:xfrm>
              <a:off x="5181273" y="4965922"/>
              <a:ext cx="6097554" cy="539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1"/>
              <a:r>
                <a:rPr lang="en-US" sz="3200" dirty="0"/>
                <a:t>3. Enabling intermediaries and </a:t>
              </a:r>
              <a:r>
                <a:rPr lang="en-US" sz="2800" dirty="0"/>
                <a:t>developers</a:t>
              </a:r>
              <a:r>
                <a:rPr lang="en-US" sz="3200" dirty="0"/>
                <a:t> to reach a wider audience.</a:t>
              </a:r>
              <a:endParaRPr lang="ar-SA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66851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C5542-1962-706E-4E99-064E4E89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99C6DFFC-D859-767E-D5FA-20B04D8B3294}"/>
              </a:ext>
            </a:extLst>
          </p:cNvPr>
          <p:cNvSpPr txBox="1"/>
          <p:nvPr/>
        </p:nvSpPr>
        <p:spPr>
          <a:xfrm>
            <a:off x="216823" y="1749469"/>
            <a:ext cx="11199167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/>
              <a:t>Aqari</a:t>
            </a:r>
            <a:r>
              <a:rPr lang="en-US" sz="2400" dirty="0"/>
              <a:t> provides an intermediary platform between buyers and property owners, with multiple features such as property listings via a slider, competitive offers, a seamless search experience, user management, property management, and the ability for users to submit complaints. Browse properties, view complaints, access the welcome page, view statistics, connect with others, add a favorites page, share properties, find frequently asked questions, and filter searches.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90A12D4A-A5E0-8E95-04F0-8317EF74D7D6}"/>
              </a:ext>
            </a:extLst>
          </p:cNvPr>
          <p:cNvSpPr txBox="1"/>
          <p:nvPr/>
        </p:nvSpPr>
        <p:spPr>
          <a:xfrm>
            <a:off x="216823" y="100135"/>
            <a:ext cx="4184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Project goals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190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مجموعة 84">
            <a:extLst>
              <a:ext uri="{FF2B5EF4-FFF2-40B4-BE49-F238E27FC236}">
                <a16:creationId xmlns:a16="http://schemas.microsoft.com/office/drawing/2014/main" id="{D2023537-414C-E01A-5B3A-90EA7262F5B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1978616" y="662940"/>
            <a:chExt cx="8274094" cy="5664226"/>
          </a:xfrm>
        </p:grpSpPr>
        <p:pic>
          <p:nvPicPr>
            <p:cNvPr id="82" name="صورة 81">
              <a:extLst>
                <a:ext uri="{FF2B5EF4-FFF2-40B4-BE49-F238E27FC236}">
                  <a16:creationId xmlns:a16="http://schemas.microsoft.com/office/drawing/2014/main" id="{BAED5E85-F3B4-ECE9-E6E7-D829E30AC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" t="31" r="22505" b="908"/>
            <a:stretch>
              <a:fillRect/>
            </a:stretch>
          </p:blipFill>
          <p:spPr>
            <a:xfrm>
              <a:off x="1978616" y="662940"/>
              <a:ext cx="8274094" cy="5664226"/>
            </a:xfrm>
            <a:prstGeom prst="rect">
              <a:avLst/>
            </a:prstGeom>
          </p:spPr>
        </p:pic>
        <p:sp>
          <p:nvSpPr>
            <p:cNvPr id="83" name="شكل بيضاوي 82">
              <a:extLst>
                <a:ext uri="{FF2B5EF4-FFF2-40B4-BE49-F238E27FC236}">
                  <a16:creationId xmlns:a16="http://schemas.microsoft.com/office/drawing/2014/main" id="{17F62509-274E-2C18-85FA-6C1E3B906583}"/>
                </a:ext>
              </a:extLst>
            </p:cNvPr>
            <p:cNvSpPr/>
            <p:nvPr/>
          </p:nvSpPr>
          <p:spPr>
            <a:xfrm>
              <a:off x="9131808" y="4059936"/>
              <a:ext cx="170688" cy="207264"/>
            </a:xfrm>
            <a:prstGeom prst="ellipse">
              <a:avLst/>
            </a:prstGeom>
            <a:solidFill>
              <a:srgbClr val="B6C9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مستطيل 83">
              <a:extLst>
                <a:ext uri="{FF2B5EF4-FFF2-40B4-BE49-F238E27FC236}">
                  <a16:creationId xmlns:a16="http://schemas.microsoft.com/office/drawing/2014/main" id="{D3BE9029-7E45-6DC2-9AFA-48ED7170942D}"/>
                </a:ext>
              </a:extLst>
            </p:cNvPr>
            <p:cNvSpPr/>
            <p:nvPr/>
          </p:nvSpPr>
          <p:spPr>
            <a:xfrm>
              <a:off x="1978616" y="1351280"/>
              <a:ext cx="8274094" cy="436880"/>
            </a:xfrm>
            <a:prstGeom prst="rect">
              <a:avLst/>
            </a:prstGeom>
            <a:solidFill>
              <a:srgbClr val="7CA0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796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BC8D7E2E-A911-3782-9637-95CFAB4F5CF7}"/>
              </a:ext>
            </a:extLst>
          </p:cNvPr>
          <p:cNvSpPr txBox="1"/>
          <p:nvPr/>
        </p:nvSpPr>
        <p:spPr>
          <a:xfrm>
            <a:off x="222679" y="215272"/>
            <a:ext cx="3449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General requirements</a:t>
            </a:r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65EA5A53-8359-3562-E630-07503353B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9" b="8987"/>
          <a:stretch>
            <a:fillRect/>
          </a:stretch>
        </p:blipFill>
        <p:spPr>
          <a:xfrm>
            <a:off x="1184449" y="738492"/>
            <a:ext cx="9823102" cy="548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7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BC8D7E2E-A911-3782-9637-95CFAB4F5CF7}"/>
              </a:ext>
            </a:extLst>
          </p:cNvPr>
          <p:cNvSpPr txBox="1"/>
          <p:nvPr/>
        </p:nvSpPr>
        <p:spPr>
          <a:xfrm>
            <a:off x="0" y="141735"/>
            <a:ext cx="2270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Requirements</a:t>
            </a:r>
          </a:p>
        </p:txBody>
      </p:sp>
      <p:pic>
        <p:nvPicPr>
          <p:cNvPr id="10" name="صورة 9">
            <a:extLst>
              <a:ext uri="{FF2B5EF4-FFF2-40B4-BE49-F238E27FC236}">
                <a16:creationId xmlns:a16="http://schemas.microsoft.com/office/drawing/2014/main" id="{3C46A1AF-C6FC-1150-6BD0-70BA1F521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5" b="8652"/>
          <a:stretch>
            <a:fillRect/>
          </a:stretch>
        </p:blipFill>
        <p:spPr>
          <a:xfrm>
            <a:off x="1020766" y="603116"/>
            <a:ext cx="10306103" cy="581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527B0BB3-F8CD-9D1E-881E-80E0F96978F7}"/>
              </a:ext>
            </a:extLst>
          </p:cNvPr>
          <p:cNvSpPr txBox="1"/>
          <p:nvPr/>
        </p:nvSpPr>
        <p:spPr>
          <a:xfrm>
            <a:off x="4705944" y="284681"/>
            <a:ext cx="3025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methodology</a:t>
            </a:r>
            <a:r>
              <a:rPr lang="ar-SA" sz="3600" b="1" dirty="0"/>
              <a:t> :</a:t>
            </a:r>
            <a:endParaRPr lang="en-US" sz="3600" b="1" dirty="0"/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19D006C9-7B35-34E7-6472-187C76FA2F48}"/>
              </a:ext>
            </a:extLst>
          </p:cNvPr>
          <p:cNvSpPr txBox="1"/>
          <p:nvPr/>
        </p:nvSpPr>
        <p:spPr>
          <a:xfrm>
            <a:off x="4795676" y="1218123"/>
            <a:ext cx="260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2400" b="1" dirty="0"/>
              <a:t>Incremental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16C20-7E44-5475-2475-E09C6EF73E4A}"/>
              </a:ext>
            </a:extLst>
          </p:cNvPr>
          <p:cNvSpPr txBox="1"/>
          <p:nvPr/>
        </p:nvSpPr>
        <p:spPr>
          <a:xfrm>
            <a:off x="6096000" y="2428566"/>
            <a:ext cx="5810865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/>
            <a:r>
              <a:rPr lang="en-US" sz="2400" dirty="0"/>
              <a:t>The project is divided into smaller parts,</a:t>
            </a:r>
          </a:p>
          <a:p>
            <a:pPr algn="l" rtl="1"/>
            <a:r>
              <a:rPr lang="en-US" sz="2400" dirty="0"/>
              <a:t>which are developed and delivered sequentially, with each part adding new functionality to the previous version until the product is fully complete.</a:t>
            </a:r>
            <a:endParaRPr lang="ar-SA" sz="2400" dirty="0"/>
          </a:p>
        </p:txBody>
      </p:sp>
      <p:grpSp>
        <p:nvGrpSpPr>
          <p:cNvPr id="11" name="مجموعة 10">
            <a:extLst>
              <a:ext uri="{FF2B5EF4-FFF2-40B4-BE49-F238E27FC236}">
                <a16:creationId xmlns:a16="http://schemas.microsoft.com/office/drawing/2014/main" id="{45B886CA-7934-BF43-DC7D-A13EFE218CF8}"/>
              </a:ext>
            </a:extLst>
          </p:cNvPr>
          <p:cNvGrpSpPr/>
          <p:nvPr/>
        </p:nvGrpSpPr>
        <p:grpSpPr>
          <a:xfrm>
            <a:off x="555722" y="2428566"/>
            <a:ext cx="5153388" cy="2569770"/>
            <a:chOff x="451306" y="1587828"/>
            <a:chExt cx="5153388" cy="2569770"/>
          </a:xfrm>
        </p:grpSpPr>
        <p:pic>
          <p:nvPicPr>
            <p:cNvPr id="8" name="صورة 7">
              <a:extLst>
                <a:ext uri="{FF2B5EF4-FFF2-40B4-BE49-F238E27FC236}">
                  <a16:creationId xmlns:a16="http://schemas.microsoft.com/office/drawing/2014/main" id="{D4DDEFD8-0FEB-0E33-1537-0887ECFE4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306" y="1587828"/>
              <a:ext cx="5153388" cy="2566046"/>
            </a:xfrm>
            <a:prstGeom prst="rect">
              <a:avLst/>
            </a:prstGeom>
          </p:spPr>
        </p:pic>
        <p:sp>
          <p:nvSpPr>
            <p:cNvPr id="10" name="مستطيل 9">
              <a:extLst>
                <a:ext uri="{FF2B5EF4-FFF2-40B4-BE49-F238E27FC236}">
                  <a16:creationId xmlns:a16="http://schemas.microsoft.com/office/drawing/2014/main" id="{D68DB247-80F7-89C6-EE99-496A95D21398}"/>
                </a:ext>
              </a:extLst>
            </p:cNvPr>
            <p:cNvSpPr/>
            <p:nvPr/>
          </p:nvSpPr>
          <p:spPr>
            <a:xfrm>
              <a:off x="1321615" y="3605590"/>
              <a:ext cx="3279913" cy="55200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09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ربع نص 7">
            <a:extLst>
              <a:ext uri="{FF2B5EF4-FFF2-40B4-BE49-F238E27FC236}">
                <a16:creationId xmlns:a16="http://schemas.microsoft.com/office/drawing/2014/main" id="{1ED5BAA1-6978-4553-118B-DF2C17B4DD96}"/>
              </a:ext>
            </a:extLst>
          </p:cNvPr>
          <p:cNvSpPr txBox="1"/>
          <p:nvPr/>
        </p:nvSpPr>
        <p:spPr>
          <a:xfrm>
            <a:off x="3846156" y="386262"/>
            <a:ext cx="4499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Project plan-Gantt Chart</a:t>
            </a:r>
          </a:p>
        </p:txBody>
      </p:sp>
      <p:grpSp>
        <p:nvGrpSpPr>
          <p:cNvPr id="12" name="مجموعة 11">
            <a:extLst>
              <a:ext uri="{FF2B5EF4-FFF2-40B4-BE49-F238E27FC236}">
                <a16:creationId xmlns:a16="http://schemas.microsoft.com/office/drawing/2014/main" id="{72084765-5123-DC4C-A37A-B5D2A14DC1AB}"/>
              </a:ext>
            </a:extLst>
          </p:cNvPr>
          <p:cNvGrpSpPr/>
          <p:nvPr/>
        </p:nvGrpSpPr>
        <p:grpSpPr>
          <a:xfrm>
            <a:off x="1063690" y="961052"/>
            <a:ext cx="10049069" cy="4404048"/>
            <a:chOff x="1063690" y="998376"/>
            <a:chExt cx="10049069" cy="4404048"/>
          </a:xfrm>
        </p:grpSpPr>
        <p:pic>
          <p:nvPicPr>
            <p:cNvPr id="4" name="صورة 3">
              <a:extLst>
                <a:ext uri="{FF2B5EF4-FFF2-40B4-BE49-F238E27FC236}">
                  <a16:creationId xmlns:a16="http://schemas.microsoft.com/office/drawing/2014/main" id="{CE966340-D26A-DA54-4CA1-78B02D36B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0" t="14558" r="1233" b="21225"/>
            <a:stretch>
              <a:fillRect/>
            </a:stretch>
          </p:blipFill>
          <p:spPr>
            <a:xfrm>
              <a:off x="1063690" y="998376"/>
              <a:ext cx="10049069" cy="4404048"/>
            </a:xfrm>
            <a:prstGeom prst="rect">
              <a:avLst/>
            </a:prstGeom>
          </p:spPr>
        </p:pic>
        <p:sp>
          <p:nvSpPr>
            <p:cNvPr id="5" name="مستطيل: زوايا مستديرة 4">
              <a:extLst>
                <a:ext uri="{FF2B5EF4-FFF2-40B4-BE49-F238E27FC236}">
                  <a16:creationId xmlns:a16="http://schemas.microsoft.com/office/drawing/2014/main" id="{518F28E0-47BA-D421-E896-D230D03786E1}"/>
                </a:ext>
              </a:extLst>
            </p:cNvPr>
            <p:cNvSpPr/>
            <p:nvPr/>
          </p:nvSpPr>
          <p:spPr>
            <a:xfrm>
              <a:off x="9097347" y="4419600"/>
              <a:ext cx="541175" cy="152400"/>
            </a:xfrm>
            <a:prstGeom prst="roundRect">
              <a:avLst/>
            </a:prstGeom>
            <a:solidFill>
              <a:srgbClr val="FFA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مستطيل: زوايا مستديرة 5">
              <a:extLst>
                <a:ext uri="{FF2B5EF4-FFF2-40B4-BE49-F238E27FC236}">
                  <a16:creationId xmlns:a16="http://schemas.microsoft.com/office/drawing/2014/main" id="{3330C03C-73B7-A046-567A-DCAFDEE19A74}"/>
                </a:ext>
              </a:extLst>
            </p:cNvPr>
            <p:cNvSpPr/>
            <p:nvPr/>
          </p:nvSpPr>
          <p:spPr>
            <a:xfrm>
              <a:off x="9590107" y="4754880"/>
              <a:ext cx="541175" cy="152400"/>
            </a:xfrm>
            <a:prstGeom prst="roundRect">
              <a:avLst/>
            </a:prstGeom>
            <a:solidFill>
              <a:srgbClr val="9D7B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مستطيل 6">
              <a:extLst>
                <a:ext uri="{FF2B5EF4-FFF2-40B4-BE49-F238E27FC236}">
                  <a16:creationId xmlns:a16="http://schemas.microsoft.com/office/drawing/2014/main" id="{9E2D2A5B-4FB8-638E-D1C3-CE628776C16E}"/>
                </a:ext>
              </a:extLst>
            </p:cNvPr>
            <p:cNvSpPr/>
            <p:nvPr/>
          </p:nvSpPr>
          <p:spPr>
            <a:xfrm>
              <a:off x="4401312" y="4419600"/>
              <a:ext cx="158496" cy="152400"/>
            </a:xfrm>
            <a:prstGeom prst="rect">
              <a:avLst/>
            </a:prstGeom>
            <a:solidFill>
              <a:srgbClr val="F2F9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800" b="1" dirty="0">
                  <a:solidFill>
                    <a:srgbClr val="5D6A89"/>
                  </a:solidFill>
                </a:rPr>
                <a:t>7</a:t>
              </a:r>
              <a:endParaRPr lang="en-US" sz="800" b="1" dirty="0">
                <a:solidFill>
                  <a:srgbClr val="5D6A89"/>
                </a:solidFill>
              </a:endParaRPr>
            </a:p>
          </p:txBody>
        </p:sp>
        <p:sp>
          <p:nvSpPr>
            <p:cNvPr id="11" name="مستطيل 10">
              <a:extLst>
                <a:ext uri="{FF2B5EF4-FFF2-40B4-BE49-F238E27FC236}">
                  <a16:creationId xmlns:a16="http://schemas.microsoft.com/office/drawing/2014/main" id="{D6556AF8-FFCD-9AE8-EA1D-E6B854BCE410}"/>
                </a:ext>
              </a:extLst>
            </p:cNvPr>
            <p:cNvSpPr/>
            <p:nvPr/>
          </p:nvSpPr>
          <p:spPr>
            <a:xfrm>
              <a:off x="4401312" y="4785360"/>
              <a:ext cx="158496" cy="152400"/>
            </a:xfrm>
            <a:prstGeom prst="rect">
              <a:avLst/>
            </a:prstGeom>
            <a:solidFill>
              <a:srgbClr val="F2F9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r-SA" sz="800" b="1" dirty="0">
                  <a:solidFill>
                    <a:srgbClr val="5D6A89"/>
                  </a:solidFill>
                </a:rPr>
                <a:t>7</a:t>
              </a:r>
              <a:endParaRPr lang="en-US" sz="800" b="1" dirty="0">
                <a:solidFill>
                  <a:srgbClr val="5D6A8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61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EB6728E5-7EFA-9CC3-BC9F-5D7A13FE10B6}"/>
              </a:ext>
            </a:extLst>
          </p:cNvPr>
          <p:cNvSpPr txBox="1"/>
          <p:nvPr/>
        </p:nvSpPr>
        <p:spPr>
          <a:xfrm>
            <a:off x="4215399" y="198591"/>
            <a:ext cx="3611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SA" b="1" dirty="0"/>
              <a:t> </a:t>
            </a:r>
            <a:r>
              <a:rPr lang="ar-SA" sz="2400" b="1" dirty="0"/>
              <a:t> </a:t>
            </a:r>
            <a:r>
              <a:rPr lang="en-US" sz="2800" b="1" dirty="0"/>
              <a:t>Software Architecture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1462BDB3-76DC-83A3-E996-4410DCDFD269}"/>
              </a:ext>
            </a:extLst>
          </p:cNvPr>
          <p:cNvSpPr txBox="1"/>
          <p:nvPr/>
        </p:nvSpPr>
        <p:spPr>
          <a:xfrm>
            <a:off x="4537560" y="858416"/>
            <a:ext cx="3116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MVC / Client-server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637984-E4EE-225C-D614-D9DD4E27110A}"/>
              </a:ext>
            </a:extLst>
          </p:cNvPr>
          <p:cNvSpPr/>
          <p:nvPr/>
        </p:nvSpPr>
        <p:spPr>
          <a:xfrm>
            <a:off x="405039" y="4901177"/>
            <a:ext cx="2546554" cy="11503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1CCFAB-5DC3-210F-C264-31065F1588BB}"/>
              </a:ext>
            </a:extLst>
          </p:cNvPr>
          <p:cNvSpPr/>
          <p:nvPr/>
        </p:nvSpPr>
        <p:spPr>
          <a:xfrm>
            <a:off x="6619230" y="4070555"/>
            <a:ext cx="1512047" cy="3834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7A9CA01F-402C-770D-8265-7EDE23AC4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080" y="1809391"/>
            <a:ext cx="4519839" cy="323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70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FBB974AC-919B-CD54-46CF-A097C84D2B6D}"/>
              </a:ext>
            </a:extLst>
          </p:cNvPr>
          <p:cNvSpPr txBox="1"/>
          <p:nvPr/>
        </p:nvSpPr>
        <p:spPr>
          <a:xfrm>
            <a:off x="408624" y="270840"/>
            <a:ext cx="1046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Tools: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484C766C-E4EA-9668-C588-92067E8DEFA4}"/>
              </a:ext>
            </a:extLst>
          </p:cNvPr>
          <p:cNvSpPr txBox="1"/>
          <p:nvPr/>
        </p:nvSpPr>
        <p:spPr>
          <a:xfrm>
            <a:off x="408624" y="845193"/>
            <a:ext cx="4850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Front end: HTML, CSS , JS , bootstrap</a:t>
            </a:r>
            <a:r>
              <a:rPr lang="ar-SA" sz="2400" dirty="0"/>
              <a:t> </a:t>
            </a:r>
            <a:endParaRPr lang="en-US" sz="2400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DA9FDDA5-C0E0-F608-EA82-B24FEEFAE328}"/>
              </a:ext>
            </a:extLst>
          </p:cNvPr>
          <p:cNvSpPr txBox="1"/>
          <p:nvPr/>
        </p:nvSpPr>
        <p:spPr>
          <a:xfrm>
            <a:off x="408624" y="1285297"/>
            <a:ext cx="29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Back end: php Laravel 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75566953-FFC0-5BC3-9ACB-22E7B809855D}"/>
              </a:ext>
            </a:extLst>
          </p:cNvPr>
          <p:cNvSpPr txBox="1"/>
          <p:nvPr/>
        </p:nvSpPr>
        <p:spPr>
          <a:xfrm>
            <a:off x="408624" y="1746962"/>
            <a:ext cx="2447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Database:  MySQL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6D403-1FA5-0BD9-DDF0-46C150035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216" y="919388"/>
            <a:ext cx="4850429" cy="4631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C4EE4F-C6FA-71D3-9858-0872699D7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4" y="2782980"/>
            <a:ext cx="5172958" cy="303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94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0AA5F282-793C-7AC4-C90B-1F8C2D4CF754}"/>
              </a:ext>
            </a:extLst>
          </p:cNvPr>
          <p:cNvSpPr txBox="1"/>
          <p:nvPr/>
        </p:nvSpPr>
        <p:spPr>
          <a:xfrm>
            <a:off x="1081849" y="0"/>
            <a:ext cx="346902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sz="3200" b="1" dirty="0"/>
              <a:t>low level-Use Case: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D5FA9710-8516-9646-5008-DF0911F2A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876" y="12678"/>
            <a:ext cx="6190430" cy="634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256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07012666-79AD-89DF-D6D2-CFA5F2319018}"/>
              </a:ext>
            </a:extLst>
          </p:cNvPr>
          <p:cNvSpPr txBox="1"/>
          <p:nvPr/>
        </p:nvSpPr>
        <p:spPr>
          <a:xfrm>
            <a:off x="5671595" y="3059668"/>
            <a:ext cx="26151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1116283"/>
      </p:ext>
    </p:extLst>
  </p:cSld>
  <p:clrMapOvr>
    <a:masterClrMapping/>
  </p:clrMapOvr>
</p:sld>
</file>

<file path=ppt/theme/theme1.xml><?xml version="1.0" encoding="utf-8"?>
<a:theme xmlns:a="http://schemas.openxmlformats.org/drawingml/2006/main" name="أثر رجعي">
  <a:themeElements>
    <a:clrScheme name="أثر رجعي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أثر رجعي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ثر رجعي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2054</TotalTime>
  <Words>214</Words>
  <Application>Microsoft Office PowerPoint</Application>
  <PresentationFormat>شاشة عريضة</PresentationFormat>
  <Paragraphs>27</Paragraphs>
  <Slides>12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أثر رجعي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FAHED NA</dc:creator>
  <cp:lastModifiedBy>FAHED NA</cp:lastModifiedBy>
  <cp:revision>47</cp:revision>
  <dcterms:created xsi:type="dcterms:W3CDTF">2025-09-02T14:34:12Z</dcterms:created>
  <dcterms:modified xsi:type="dcterms:W3CDTF">2026-10-25T12:07:11Z</dcterms:modified>
</cp:coreProperties>
</file>